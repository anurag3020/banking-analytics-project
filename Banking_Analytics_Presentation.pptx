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1119" r:id="rId2"/>
    <p:sldId id="1497" r:id="rId3"/>
    <p:sldId id="1518" r:id="rId4"/>
    <p:sldId id="1519" r:id="rId5"/>
    <p:sldId id="1520" r:id="rId6"/>
    <p:sldId id="1503" r:id="rId7"/>
    <p:sldId id="1505" r:id="rId8"/>
    <p:sldId id="1506" r:id="rId9"/>
    <p:sldId id="1521" r:id="rId10"/>
    <p:sldId id="1522" r:id="rId11"/>
    <p:sldId id="1523" r:id="rId12"/>
    <p:sldId id="1528" r:id="rId13"/>
    <p:sldId id="1539" r:id="rId14"/>
    <p:sldId id="1540" r:id="rId15"/>
    <p:sldId id="1541" r:id="rId16"/>
    <p:sldId id="1542" r:id="rId17"/>
    <p:sldId id="1543" r:id="rId18"/>
    <p:sldId id="1529" r:id="rId19"/>
    <p:sldId id="1544" r:id="rId20"/>
    <p:sldId id="1545" r:id="rId21"/>
    <p:sldId id="1546" r:id="rId22"/>
    <p:sldId id="1547" r:id="rId23"/>
    <p:sldId id="1530" r:id="rId24"/>
    <p:sldId id="1548" r:id="rId25"/>
    <p:sldId id="1549" r:id="rId26"/>
    <p:sldId id="1550" r:id="rId27"/>
    <p:sldId id="1551" r:id="rId28"/>
    <p:sldId id="1552" r:id="rId29"/>
    <p:sldId id="1531" r:id="rId30"/>
    <p:sldId id="1553" r:id="rId31"/>
    <p:sldId id="1554" r:id="rId32"/>
    <p:sldId id="1532" r:id="rId33"/>
    <p:sldId id="1535" r:id="rId34"/>
    <p:sldId id="1536" r:id="rId35"/>
    <p:sldId id="1533" r:id="rId36"/>
    <p:sldId id="1534" r:id="rId37"/>
    <p:sldId id="1537" r:id="rId38"/>
    <p:sldId id="1538" r:id="rId39"/>
    <p:sldId id="151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B22F"/>
    <a:srgbClr val="AEFCFC"/>
    <a:srgbClr val="E0C1FF"/>
    <a:srgbClr val="CC99FF"/>
    <a:srgbClr val="00589A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B3FF6E-9745-CE23-4D92-DAFD3E119D36}" v="3340" dt="2026-05-05T22:31:49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26" autoAdjust="0"/>
  </p:normalViewPr>
  <p:slideViewPr>
    <p:cSldViewPr snapToGrid="0">
      <p:cViewPr varScale="1">
        <p:scale>
          <a:sx n="104" d="100"/>
          <a:sy n="104" d="100"/>
        </p:scale>
        <p:origin x="8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300218" y="1347837"/>
            <a:ext cx="5884333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en-IN" sz="2800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Banking Analytics Solution for Czechoslovakia Bank</a:t>
            </a:r>
          </a:p>
          <a:p>
            <a:pPr algn="ctr" defTabSz="1219170">
              <a:buClr>
                <a:srgbClr val="000000"/>
              </a:buClr>
            </a:pPr>
            <a:endParaRPr lang="en-IN" sz="2800" b="1" kern="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8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Name: Anurag</a:t>
            </a:r>
            <a:endParaRPr lang="en-IN" sz="2800" b="1" kern="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1219170">
              <a:buClr>
                <a:srgbClr val="000000"/>
              </a:buClr>
            </a:pPr>
            <a:endParaRPr lang="en-IN" sz="2800" b="1" kern="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800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Date: 01-07-26</a:t>
            </a:r>
            <a:endParaRPr lang="en-IN" sz="2800" b="1" kern="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1219170">
              <a:buClr>
                <a:srgbClr val="000000"/>
              </a:buClr>
            </a:pPr>
            <a:endParaRPr lang="en-IN" sz="2800" kern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800" kern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800" kern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800" kern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800" kern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800" kern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BE20E2-BAA3-A8ED-5E18-6F25D8C95E4E}"/>
              </a:ext>
            </a:extLst>
          </p:cNvPr>
          <p:cNvSpPr/>
          <p:nvPr/>
        </p:nvSpPr>
        <p:spPr>
          <a:xfrm>
            <a:off x="2041185" y="-2331462"/>
            <a:ext cx="12170863" cy="663852"/>
          </a:xfrm>
          <a:prstGeom prst="rect">
            <a:avLst/>
          </a:prstGeom>
          <a:solidFill>
            <a:srgbClr val="35CC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AA7D35-0662-83A0-1615-D262328D0457}"/>
              </a:ext>
            </a:extLst>
          </p:cNvPr>
          <p:cNvSpPr txBox="1"/>
          <p:nvPr/>
        </p:nvSpPr>
        <p:spPr>
          <a:xfrm>
            <a:off x="4401870" y="69146"/>
            <a:ext cx="4494479" cy="9941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93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CONTEXT</a:t>
            </a:r>
            <a:endParaRPr lang="en-US" sz="29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9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EE3640-7495-61DE-458C-7E70E6A5C405}"/>
              </a:ext>
            </a:extLst>
          </p:cNvPr>
          <p:cNvSpPr txBox="1"/>
          <p:nvPr/>
        </p:nvSpPr>
        <p:spPr>
          <a:xfrm>
            <a:off x="360218" y="1069109"/>
            <a:ext cx="10427855" cy="4575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Banking Industry Challenge: Managing 1M+ transaction records across 8 interconnected data sources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Data Quality Imperative: Ensuring data integrity is foundational for decision-making and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Analytics-Driven Strategy: Shift from reactive reporting to proactive insight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Technology Stack: Leverage SQL Server for data management, Power BI for visualisation, Python for predictive        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Risk Mitigation: Comprehensive data audit reduces reporting errors, regulatory exposure, and operational risk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98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4D09DE-1DC0-AD6A-3405-D5BE13219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197" y="748145"/>
            <a:ext cx="10515600" cy="5157009"/>
          </a:xfrm>
        </p:spPr>
        <p:txBody>
          <a:bodyPr>
            <a:normAutofit/>
          </a:bodyPr>
          <a:lstStyle/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Assess data quality and identify inconsistencies across all 8 tables.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Validate referential integrity and enforce data governance standards.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Consolidate transaction data into a unified fact table (1M+ records).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Build clean, reliable foundation for analytics and reporting.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Design Power BI dashboards for executive-level insights.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Enable predictive modelling for loan default prediction and customer risk scoring.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093710-431C-151A-17EB-81D01C6A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OBJECTIVES</a:t>
            </a:r>
          </a:p>
        </p:txBody>
      </p:sp>
    </p:spTree>
    <p:extLst>
      <p:ext uri="{BB962C8B-B14F-4D97-AF65-F5344CB8AC3E}">
        <p14:creationId xmlns:p14="http://schemas.microsoft.com/office/powerpoint/2010/main" val="837158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627731-520F-D87C-5EDE-EB6C2B609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&amp; METHODOLOGY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E6FDDE-CDA6-0AEA-0A62-9DC82A457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8386" y="1960736"/>
            <a:ext cx="1097280" cy="9144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marL="186262" indent="0" algn="ctr">
              <a:buNone/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</a:p>
        </p:txBody>
      </p:sp>
      <p:sp>
        <p:nvSpPr>
          <p:cNvPr id="7" name="Right Arrow 7">
            <a:extLst>
              <a:ext uri="{FF2B5EF4-FFF2-40B4-BE49-F238E27FC236}">
                <a16:creationId xmlns:a16="http://schemas.microsoft.com/office/drawing/2014/main" id="{4E117D44-CC7D-51F4-FDB3-BD966EEB6A58}"/>
              </a:ext>
            </a:extLst>
          </p:cNvPr>
          <p:cNvSpPr/>
          <p:nvPr/>
        </p:nvSpPr>
        <p:spPr>
          <a:xfrm flipV="1">
            <a:off x="4042870" y="2279939"/>
            <a:ext cx="205971" cy="296949"/>
          </a:xfrm>
          <a:prstGeom prst="rightArrow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1A0BDF-AFF3-40C8-F88C-0F36664B548E}"/>
              </a:ext>
            </a:extLst>
          </p:cNvPr>
          <p:cNvSpPr/>
          <p:nvPr/>
        </p:nvSpPr>
        <p:spPr>
          <a:xfrm>
            <a:off x="4254220" y="1971214"/>
            <a:ext cx="1097280" cy="914400"/>
          </a:xfrm>
          <a:prstGeom prst="rect">
            <a:avLst/>
          </a:prstGeom>
          <a:solidFill>
            <a:srgbClr val="003D7A"/>
          </a:solidFill>
          <a:ln w="9525" cap="flat" cmpd="sng" algn="ctr">
            <a:solidFill>
              <a:srgbClr val="003D7A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</a:defRPr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b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</p:txBody>
      </p:sp>
      <p:sp>
        <p:nvSpPr>
          <p:cNvPr id="10" name="Right Arrow 8">
            <a:extLst>
              <a:ext uri="{FF2B5EF4-FFF2-40B4-BE49-F238E27FC236}">
                <a16:creationId xmlns:a16="http://schemas.microsoft.com/office/drawing/2014/main" id="{D359609A-19DB-D0D1-A082-154AC5F26F8F}"/>
              </a:ext>
            </a:extLst>
          </p:cNvPr>
          <p:cNvSpPr/>
          <p:nvPr/>
        </p:nvSpPr>
        <p:spPr>
          <a:xfrm>
            <a:off x="5452088" y="2264007"/>
            <a:ext cx="121768" cy="274320"/>
          </a:xfrm>
          <a:prstGeom prst="rightArrow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02D231-97A1-B76A-F8A1-65FF1953388B}"/>
              </a:ext>
            </a:extLst>
          </p:cNvPr>
          <p:cNvSpPr/>
          <p:nvPr/>
        </p:nvSpPr>
        <p:spPr>
          <a:xfrm>
            <a:off x="5571574" y="1960736"/>
            <a:ext cx="1097280" cy="914400"/>
          </a:xfrm>
          <a:prstGeom prst="rect">
            <a:avLst/>
          </a:prstGeom>
          <a:solidFill>
            <a:srgbClr val="4472C4"/>
          </a:solidFill>
          <a:ln w="9525" cap="flat" cmpd="sng" algn="ctr">
            <a:solidFill>
              <a:srgbClr val="4472C4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</a:defRPr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b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</p:txBody>
      </p:sp>
      <p:sp>
        <p:nvSpPr>
          <p:cNvPr id="13" name="Right Arrow 9">
            <a:extLst>
              <a:ext uri="{FF2B5EF4-FFF2-40B4-BE49-F238E27FC236}">
                <a16:creationId xmlns:a16="http://schemas.microsoft.com/office/drawing/2014/main" id="{82FEB395-864D-5EE6-0662-B8DCC4E536B0}"/>
              </a:ext>
            </a:extLst>
          </p:cNvPr>
          <p:cNvSpPr/>
          <p:nvPr/>
        </p:nvSpPr>
        <p:spPr>
          <a:xfrm>
            <a:off x="6737434" y="2264007"/>
            <a:ext cx="137160" cy="274320"/>
          </a:xfrm>
          <a:prstGeom prst="rightArrow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31F9F9-AAB1-9AA3-7735-8623D733B2F7}"/>
              </a:ext>
            </a:extLst>
          </p:cNvPr>
          <p:cNvSpPr/>
          <p:nvPr/>
        </p:nvSpPr>
        <p:spPr>
          <a:xfrm>
            <a:off x="6854638" y="1971214"/>
            <a:ext cx="1097280" cy="914400"/>
          </a:xfrm>
          <a:prstGeom prst="rect">
            <a:avLst/>
          </a:prstGeom>
          <a:solidFill>
            <a:srgbClr val="003D7A"/>
          </a:solidFill>
          <a:ln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</a:p>
        </p:txBody>
      </p:sp>
      <p:sp>
        <p:nvSpPr>
          <p:cNvPr id="17" name="Right Arrow 10">
            <a:extLst>
              <a:ext uri="{FF2B5EF4-FFF2-40B4-BE49-F238E27FC236}">
                <a16:creationId xmlns:a16="http://schemas.microsoft.com/office/drawing/2014/main" id="{D10D557E-439D-19E2-FD66-5575FDC50D4E}"/>
              </a:ext>
            </a:extLst>
          </p:cNvPr>
          <p:cNvSpPr/>
          <p:nvPr/>
        </p:nvSpPr>
        <p:spPr>
          <a:xfrm>
            <a:off x="8069122" y="2264007"/>
            <a:ext cx="137160" cy="274320"/>
          </a:xfrm>
          <a:prstGeom prst="rightArrow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9804CB-3204-9997-65D0-8FAF4EA15BD5}"/>
              </a:ext>
            </a:extLst>
          </p:cNvPr>
          <p:cNvSpPr/>
          <p:nvPr/>
        </p:nvSpPr>
        <p:spPr>
          <a:xfrm>
            <a:off x="8206282" y="1960736"/>
            <a:ext cx="1097280" cy="9144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</a:p>
        </p:txBody>
      </p:sp>
    </p:spTree>
    <p:extLst>
      <p:ext uri="{BB962C8B-B14F-4D97-AF65-F5344CB8AC3E}">
        <p14:creationId xmlns:p14="http://schemas.microsoft.com/office/powerpoint/2010/main" val="298753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D5D0C8-2124-07F2-7E62-42473805F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034BC9-6C08-1FEE-4C95-5C44345F7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946261"/>
              </p:ext>
            </p:extLst>
          </p:nvPr>
        </p:nvGraphicFramePr>
        <p:xfrm>
          <a:off x="2997597" y="897774"/>
          <a:ext cx="5486400" cy="4572000"/>
        </p:xfrm>
        <a:graphic>
          <a:graphicData uri="http://schemas.openxmlformats.org/drawingml/2006/table">
            <a:tbl>
              <a:tblPr firstRow="1" band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Record Count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fact_table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rPr lang="en-IN" dirty="0"/>
                        <a:t>1048575</a:t>
                      </a:r>
                      <a:endParaRPr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Transactions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order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rPr dirty="0"/>
                        <a:t>6,471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Master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client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5,369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Master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disp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5,369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Master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account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4,500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Master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card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892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Master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loan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682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Master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district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Master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1">
                          <a:solidFill>
                            <a:srgbClr val="404040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1">
                          <a:solidFill>
                            <a:srgbClr val="404040"/>
                          </a:solidFill>
                        </a:defRPr>
                      </a:pPr>
                      <a:r>
                        <a:rPr lang="en-US" dirty="0"/>
                        <a:t>1,071,935</a:t>
                      </a:r>
                      <a:endParaRPr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1">
                          <a:solidFill>
                            <a:srgbClr val="404040"/>
                          </a:solidFill>
                        </a:defRPr>
                      </a:pPr>
                      <a:endParaRPr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68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9EF396-B6CC-E310-5AA9-5A1F54296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055" y="147493"/>
            <a:ext cx="5661890" cy="632775"/>
          </a:xfrm>
        </p:spPr>
        <p:txBody>
          <a:bodyPr/>
          <a:lstStyle/>
          <a:p>
            <a:pPr algn="ctr"/>
            <a:r>
              <a:rPr lang="en-IN" sz="29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sz="2930" dirty="0">
              <a:solidFill>
                <a:srgbClr val="2236E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7D5D006-1ECB-C926-6232-AEF723FAF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14400"/>
            <a:ext cx="10515600" cy="5064645"/>
          </a:xfrm>
        </p:spPr>
        <p:txBody>
          <a:bodyPr/>
          <a:lstStyle/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SQL Server </a:t>
            </a:r>
          </a:p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Data ingestion, validation, transformation, and KPI calculation</a:t>
            </a:r>
          </a:p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Power BI Desktop</a:t>
            </a:r>
          </a:p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Interactive dashboards, DAX modelling, cloud deployment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🐍 Python (Pandas, NumPy, Scikit-Learn)</a:t>
            </a:r>
          </a:p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Data cleaning, EDA, predictive modelling, visualisation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📋 Excel &amp; PowerPoint</a:t>
            </a:r>
          </a:p>
          <a:p>
            <a:pPr marL="186262" indent="0">
              <a:spcBef>
                <a:spcPts val="800"/>
              </a:spcBef>
              <a:spcAft>
                <a:spcPts val="800"/>
              </a:spcAft>
              <a:buNone/>
              <a:defRPr sz="1600">
                <a:solidFill>
                  <a:srgbClr val="404040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Documentation, reporting, presentation</a:t>
            </a:r>
          </a:p>
        </p:txBody>
      </p:sp>
    </p:spTree>
    <p:extLst>
      <p:ext uri="{BB962C8B-B14F-4D97-AF65-F5344CB8AC3E}">
        <p14:creationId xmlns:p14="http://schemas.microsoft.com/office/powerpoint/2010/main" val="3812444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0F7B4C-B2E9-F257-D797-3CDE6210D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9275" y="-1624666"/>
            <a:ext cx="1905000" cy="536161"/>
          </a:xfrm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BB3BB1-3152-00E0-6B26-510C5A963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397" y="-2343150"/>
            <a:ext cx="10675200" cy="1137600"/>
          </a:xfrm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E7295556-C540-CE48-8175-5CE3F8299BE5}"/>
              </a:ext>
            </a:extLst>
          </p:cNvPr>
          <p:cNvSpPr/>
          <p:nvPr/>
        </p:nvSpPr>
        <p:spPr>
          <a:xfrm>
            <a:off x="3902355" y="-2096"/>
            <a:ext cx="4067175" cy="914400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E16CA-1580-FD9D-9E00-402DF18CE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947" y="1180159"/>
            <a:ext cx="8596105" cy="486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041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3AE250-4D41-3CF4-6C8F-7B7432936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24775" y="-1853266"/>
            <a:ext cx="2533650" cy="869536"/>
          </a:xfrm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6A2300-4924-AEE3-D740-61DF96A73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2547" y="-1857375"/>
            <a:ext cx="1626450" cy="499425"/>
          </a:xfrm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56A46-5E0F-CAE1-40B9-2D7E95126A30}"/>
              </a:ext>
            </a:extLst>
          </p:cNvPr>
          <p:cNvSpPr txBox="1"/>
          <p:nvPr/>
        </p:nvSpPr>
        <p:spPr>
          <a:xfrm>
            <a:off x="3490544" y="112513"/>
            <a:ext cx="41338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 AUDIT FRAMEWORK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D6AC9CF6-1924-45FB-2E9D-5C7382E7AB90}"/>
              </a:ext>
            </a:extLst>
          </p:cNvPr>
          <p:cNvSpPr/>
          <p:nvPr/>
        </p:nvSpPr>
        <p:spPr>
          <a:xfrm>
            <a:off x="1646382" y="3421"/>
            <a:ext cx="7238999" cy="67985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C7727F-9787-DB8B-37A3-AEAEDAE52AA9}"/>
              </a:ext>
            </a:extLst>
          </p:cNvPr>
          <p:cNvSpPr txBox="1"/>
          <p:nvPr/>
        </p:nvSpPr>
        <p:spPr>
          <a:xfrm>
            <a:off x="905163" y="1034626"/>
            <a:ext cx="10898910" cy="4852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Primary Key Validation — Detect duplicate and NULL primary keys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Foreign Key &amp; Referential Integrity — Identify orphan records and broken relationships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Date Format &amp; Range Validation — Ensure date columns are properly formatted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Null Value Analysis — Identify unexpected NULLs in critical columns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Domain &amp; Enumeration Validation — Verify categorical values match allowed domain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Business Rule Validation — Enforce data consistency rules (negative amounts, balances, etc.)</a:t>
            </a:r>
          </a:p>
        </p:txBody>
      </p:sp>
    </p:spTree>
    <p:extLst>
      <p:ext uri="{BB962C8B-B14F-4D97-AF65-F5344CB8AC3E}">
        <p14:creationId xmlns:p14="http://schemas.microsoft.com/office/powerpoint/2010/main" val="2720112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6C5724-1457-BD54-526D-F356A621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VALIDATION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272553-0264-634E-1902-1B5B03F7659F}"/>
              </a:ext>
            </a:extLst>
          </p:cNvPr>
          <p:cNvSpPr/>
          <p:nvPr/>
        </p:nvSpPr>
        <p:spPr>
          <a:xfrm>
            <a:off x="1805709" y="1214582"/>
            <a:ext cx="2743200" cy="2286000"/>
          </a:xfrm>
          <a:prstGeom prst="rect">
            <a:avLst/>
          </a:prstGeom>
          <a:solidFill>
            <a:srgbClr val="46A861"/>
          </a:solidFill>
          <a:ln w="9525" cap="flat" cmpd="sng" algn="ctr">
            <a:solidFill>
              <a:srgbClr val="46A86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b="1">
                <a:solidFill>
                  <a:srgbClr val="FFFFFF"/>
                </a:solidFill>
              </a:defRPr>
            </a:pPr>
            <a:r>
              <a:rPr kumimoji="0" sz="7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Duplicate PKs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24506E-E65D-121D-1A33-14D4DA56F843}"/>
              </a:ext>
            </a:extLst>
          </p:cNvPr>
          <p:cNvSpPr/>
          <p:nvPr/>
        </p:nvSpPr>
        <p:spPr>
          <a:xfrm>
            <a:off x="6008255" y="1214582"/>
            <a:ext cx="2743200" cy="2286000"/>
          </a:xfrm>
          <a:prstGeom prst="rect">
            <a:avLst/>
          </a:prstGeom>
          <a:solidFill>
            <a:srgbClr val="46A861"/>
          </a:solidFill>
          <a:ln w="9525" cap="flat" cmpd="sng" algn="ctr">
            <a:solidFill>
              <a:srgbClr val="46A86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b="1">
                <a:solidFill>
                  <a:srgbClr val="FFFFFF"/>
                </a:solidFill>
              </a:defRPr>
            </a:pPr>
            <a:r>
              <a:rPr kumimoji="0" sz="7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NULL PKs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CFFB44-41EA-BC59-E980-C16A77987872}"/>
              </a:ext>
            </a:extLst>
          </p:cNvPr>
          <p:cNvSpPr txBox="1"/>
          <p:nvPr/>
        </p:nvSpPr>
        <p:spPr>
          <a:xfrm>
            <a:off x="1477817" y="4544290"/>
            <a:ext cx="7426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 b="1">
                <a:solidFill>
                  <a:srgbClr val="46A861"/>
                </a:solidFill>
              </a:defRPr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✓ PASS: All 8 tables have valid, unique primary keys with no duplicates or NULL values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081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F879A-F10C-CAA8-A937-BECE295E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REFERENTIAL INTEGRITY VALIDATION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7A0AA2-A834-76F6-0AF8-3BD93C27A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709457"/>
              </p:ext>
            </p:extLst>
          </p:nvPr>
        </p:nvGraphicFramePr>
        <p:xfrm>
          <a:off x="2540397" y="814647"/>
          <a:ext cx="6400800" cy="4389120"/>
        </p:xfrm>
        <a:graphic>
          <a:graphicData uri="http://schemas.openxmlformats.org/drawingml/2006/table">
            <a:tbl>
              <a:tblPr firstRow="1" bandRow="1"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Relationship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Orphan Rows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account → district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6A861"/>
                          </a:solidFill>
                        </a:defRPr>
                      </a:pPr>
                      <a:r>
                        <a:t>✓ PASS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client → district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6A861"/>
                          </a:solidFill>
                        </a:defRPr>
                      </a:pPr>
                      <a:r>
                        <a:t>✓ PASS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disp → account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6A861"/>
                          </a:solidFill>
                        </a:defRPr>
                      </a:pPr>
                      <a:r>
                        <a:t>✓ PASS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disp → client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6A861"/>
                          </a:solidFill>
                        </a:defRPr>
                      </a:pPr>
                      <a:r>
                        <a:t>✓ PASS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card → disp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6A861"/>
                          </a:solidFill>
                        </a:defRPr>
                      </a:pPr>
                      <a:r>
                        <a:t>✓ PASS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loan → account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6A861"/>
                          </a:solidFill>
                        </a:defRPr>
                      </a:pPr>
                      <a:r>
                        <a:t>✓ PASS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order → account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6A861"/>
                          </a:solidFill>
                        </a:defRPr>
                      </a:pPr>
                      <a:r>
                        <a:t>✓ PASS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fact_table → account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0404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867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1100" b="0">
                          <a:solidFill>
                            <a:srgbClr val="46A861"/>
                          </a:solidFill>
                        </a:defRPr>
                      </a:pPr>
                      <a:r>
                        <a:rPr dirty="0"/>
                        <a:t>✓ PASS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860C1AA-0019-B75F-C512-034B9DAB0FD0}"/>
              </a:ext>
            </a:extLst>
          </p:cNvPr>
          <p:cNvSpPr txBox="1"/>
          <p:nvPr/>
        </p:nvSpPr>
        <p:spPr>
          <a:xfrm>
            <a:off x="748145" y="5717309"/>
            <a:ext cx="8774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 b="1">
                <a:solidFill>
                  <a:srgbClr val="46A861"/>
                </a:solidFill>
              </a:defRPr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✓ 100% REFERENTIAL INTEGRITY — All foreign key relationships validated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386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F000EB-B2C4-9FE7-4714-419D58C3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SCORE CARD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FEB033-869F-3F9C-789C-96D3740E3108}"/>
              </a:ext>
            </a:extLst>
          </p:cNvPr>
          <p:cNvSpPr/>
          <p:nvPr/>
        </p:nvSpPr>
        <p:spPr>
          <a:xfrm>
            <a:off x="990138" y="1137600"/>
            <a:ext cx="1645920" cy="1828800"/>
          </a:xfrm>
          <a:prstGeom prst="rect">
            <a:avLst/>
          </a:prstGeom>
          <a:solidFill>
            <a:srgbClr val="4472C4"/>
          </a:solidFill>
          <a:ln w="9525" cap="flat" cmpd="sng" algn="ctr">
            <a:solidFill>
              <a:srgbClr val="4472C4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FFFFFF"/>
                </a:solidFill>
              </a:defRPr>
            </a:pPr>
            <a:r>
              <a:rPr kumimoji="0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32+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FFFFFF"/>
                </a:solidFill>
              </a:defRPr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SQL Checks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10AF9-6DAB-B423-C594-33FD613159CB}"/>
              </a:ext>
            </a:extLst>
          </p:cNvPr>
          <p:cNvSpPr/>
          <p:nvPr/>
        </p:nvSpPr>
        <p:spPr>
          <a:xfrm>
            <a:off x="3498734" y="1137600"/>
            <a:ext cx="1645920" cy="1828800"/>
          </a:xfrm>
          <a:prstGeom prst="rect">
            <a:avLst/>
          </a:prstGeom>
          <a:solidFill>
            <a:srgbClr val="4472C4"/>
          </a:solidFill>
          <a:ln w="9525" cap="flat" cmpd="sng" algn="ctr">
            <a:solidFill>
              <a:srgbClr val="4472C4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FFFFFF"/>
                </a:solidFill>
              </a:defRPr>
            </a:pPr>
            <a:r>
              <a:rPr kumimoji="0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FFFFFF"/>
                </a:solidFill>
              </a:defRPr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A45EBE-ACD4-2BCA-3574-5C0C7A205D96}"/>
              </a:ext>
            </a:extLst>
          </p:cNvPr>
          <p:cNvSpPr/>
          <p:nvPr/>
        </p:nvSpPr>
        <p:spPr>
          <a:xfrm>
            <a:off x="6465605" y="1137600"/>
            <a:ext cx="1645920" cy="1828800"/>
          </a:xfrm>
          <a:prstGeom prst="rect">
            <a:avLst/>
          </a:prstGeom>
          <a:solidFill>
            <a:srgbClr val="46A861"/>
          </a:solidFill>
          <a:ln w="9525" cap="flat" cmpd="sng" algn="ctr">
            <a:solidFill>
              <a:srgbClr val="46A86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FFFFFF"/>
                </a:solidFill>
              </a:defRPr>
            </a:pPr>
            <a:r>
              <a:rPr kumimoji="0" sz="4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FFFFFF"/>
                </a:solidFill>
              </a:defRPr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Passed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BE422D-7833-C264-EE09-15C4DFB1EA9C}"/>
              </a:ext>
            </a:extLst>
          </p:cNvPr>
          <p:cNvSpPr/>
          <p:nvPr/>
        </p:nvSpPr>
        <p:spPr>
          <a:xfrm>
            <a:off x="9144000" y="1137600"/>
            <a:ext cx="1645920" cy="18288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>
                <a:solidFill>
                  <a:srgbClr val="FFFFFF"/>
                </a:solidFill>
              </a:defRPr>
            </a:pPr>
            <a:r>
              <a:rPr kumimoji="0" sz="4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FFFFFF"/>
                </a:solidFill>
              </a:defRPr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Issues Found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15ABDF-C451-91A4-B50A-785A772EBCBE}"/>
              </a:ext>
            </a:extLst>
          </p:cNvPr>
          <p:cNvSpPr/>
          <p:nvPr/>
        </p:nvSpPr>
        <p:spPr>
          <a:xfrm>
            <a:off x="3810000" y="3659447"/>
            <a:ext cx="4572000" cy="1371600"/>
          </a:xfrm>
          <a:prstGeom prst="rect">
            <a:avLst/>
          </a:prstGeom>
          <a:solidFill>
            <a:srgbClr val="46A861"/>
          </a:solidFill>
          <a:ln w="9525" cap="flat" cmpd="sng" algn="ctr">
            <a:solidFill>
              <a:srgbClr val="46A86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b="1">
                <a:solidFill>
                  <a:srgbClr val="FFFFFF"/>
                </a:solidFill>
              </a:defRPr>
            </a:pPr>
            <a:r>
              <a:rPr kumimoji="0" sz="7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99.2%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FFFFFF"/>
                </a:solidFill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SCORE</a:t>
            </a:r>
          </a:p>
        </p:txBody>
      </p:sp>
    </p:spTree>
    <p:extLst>
      <p:ext uri="{BB962C8B-B14F-4D97-AF65-F5344CB8AC3E}">
        <p14:creationId xmlns:p14="http://schemas.microsoft.com/office/powerpoint/2010/main" val="1745913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EDA — CUSTOMER &amp; ACCOUNT ANALYTICS</a:t>
            </a:r>
          </a:p>
        </p:txBody>
      </p:sp>
      <p:pic>
        <p:nvPicPr>
          <p:cNvPr id="4" name="Customer Demographic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900000"/>
            <a:ext cx="6024972" cy="1736954"/>
          </a:xfrm>
          <a:prstGeom prst="rect">
            <a:avLst/>
          </a:prstGeom>
          <a:ln w="9525" cap="flat" cmpd="sng" algn="ctr">
            <a:solidFill>
              <a:srgbClr val="D9D9D9"/>
            </a:solidFill>
          </a:ln>
        </p:spPr>
      </p:pic>
      <p:pic>
        <p:nvPicPr>
          <p:cNvPr id="5" name="Account Analy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72" y="900000"/>
            <a:ext cx="4667021" cy="1736954"/>
          </a:xfrm>
          <a:prstGeom prst="rect">
            <a:avLst/>
          </a:prstGeom>
          <a:ln w="9525" cap="flat" cmpd="sng" algn="ctr">
            <a:solidFill>
              <a:srgbClr val="D9D9D9"/>
            </a:solidFill>
          </a:ln>
        </p:spPr>
      </p:pic>
      <p:sp>
        <p:nvSpPr>
          <p:cNvPr id="10" name="StatBox 10"/>
          <p:cNvSpPr/>
          <p:nvPr/>
        </p:nvSpPr>
        <p:spPr>
          <a:xfrm>
            <a:off x="600000" y="2886954"/>
            <a:ext cx="2560500" cy="1700000"/>
          </a:xfrm>
          <a:prstGeom prst="rect">
            <a:avLst/>
          </a:prstGeom>
          <a:solidFill>
            <a:srgbClr val="4472C4"/>
          </a:solidFill>
          <a:ln w="9525" cap="flat" cmpd="sng" algn="ctr">
            <a:solidFill>
              <a:srgbClr val="4472C4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50.7% / 49.3%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 Split (M / F)</a:t>
            </a:r>
          </a:p>
        </p:txBody>
      </p:sp>
      <p:sp>
        <p:nvSpPr>
          <p:cNvPr id="11" name="StatBox 11"/>
          <p:cNvSpPr/>
          <p:nvPr/>
        </p:nvSpPr>
        <p:spPr>
          <a:xfrm>
            <a:off x="3410500" y="2886954"/>
            <a:ext cx="2560500" cy="1700000"/>
          </a:xfrm>
          <a:prstGeom prst="rect">
            <a:avLst/>
          </a:prstGeom>
          <a:solidFill>
            <a:srgbClr val="46A861"/>
          </a:solidFill>
          <a:ln w="9525" cap="flat" cmpd="sng" algn="ctr">
            <a:solidFill>
              <a:srgbClr val="46A86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Avg. Customer Age (yrs)</a:t>
            </a:r>
          </a:p>
        </p:txBody>
      </p:sp>
      <p:sp>
        <p:nvSpPr>
          <p:cNvPr id="12" name="StatBox 12"/>
          <p:cNvSpPr/>
          <p:nvPr/>
        </p:nvSpPr>
        <p:spPr>
          <a:xfrm>
            <a:off x="6221000" y="2886954"/>
            <a:ext cx="2560500" cy="1700000"/>
          </a:xfrm>
          <a:prstGeom prst="rect">
            <a:avLst/>
          </a:prstGeom>
          <a:solidFill>
            <a:srgbClr val="E24B4A"/>
          </a:solidFill>
          <a:ln w="9525" cap="flat" cmpd="sng" algn="ctr">
            <a:solidFill>
              <a:srgbClr val="E24B4A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16.6%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 Adoption Rate</a:t>
            </a:r>
          </a:p>
        </p:txBody>
      </p:sp>
      <p:sp>
        <p:nvSpPr>
          <p:cNvPr id="13" name="StatBox 13"/>
          <p:cNvSpPr/>
          <p:nvPr/>
        </p:nvSpPr>
        <p:spPr>
          <a:xfrm>
            <a:off x="9031500" y="2886954"/>
            <a:ext cx="2560500" cy="1700000"/>
          </a:xfrm>
          <a:prstGeom prst="rect">
            <a:avLst/>
          </a:prstGeom>
          <a:solidFill>
            <a:srgbClr val="EF9F27"/>
          </a:solidFill>
          <a:ln w="9525" cap="flat" cmpd="sng" algn="ctr">
            <a:solidFill>
              <a:srgbClr val="EF9F2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</a:defRPr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4,500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Accounts (3 Types)</a:t>
            </a:r>
          </a:p>
        </p:txBody>
      </p:sp>
      <p:sp>
        <p:nvSpPr>
          <p:cNvPr id="20" name="Caption 20"/>
          <p:cNvSpPr txBox="1"/>
          <p:nvPr/>
        </p:nvSpPr>
        <p:spPr>
          <a:xfrm>
            <a:off x="600000" y="4736954"/>
            <a:ext cx="10992000" cy="4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en-US" sz="1400" i="1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base skews older (68% aged 46+) with balanced adoption across Savings, NRI, and Salary accounts.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14C5CC-FF93-661A-80EB-265C12A5F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797" y="1247554"/>
            <a:ext cx="8969130" cy="3955636"/>
          </a:xfrm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 account for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50.7%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customer base.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customers account for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49.3%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base is almost evenly distributed between males and females.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has a balanced customer portfolio with no significant gender bias.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campaigns and financial products can be designed for both genders without major demographic imbalance.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future segmentation should focus more on customer behaviour than gender. </a:t>
            </a:r>
          </a:p>
          <a:p>
            <a:pPr marL="186262" indent="0">
              <a:buNone/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0D79AD-F003-DDEE-9A71-F7A8EF3AB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3975B-B23A-8122-3BBE-A8146288A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018" y="415414"/>
            <a:ext cx="2800156" cy="26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84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F0B9F1-D063-AC28-4A92-871234643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600" y="1293735"/>
            <a:ext cx="9829800" cy="4571355"/>
          </a:xfrm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60+ age group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largest proportion of customers.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aged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46–60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 the second-largest segment.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customers fall into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18–30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31–45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groups.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primarily serves middle-aged and senior customers.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Older customers are likely to have higher account balances, pensions, or long-term banking relationships.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Younger customers represent a growth opportunity.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digital banking products and targeted marketing campaigns to attract younger customers.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offering retirement, investment, and wealth management services for senior customers.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E9D2C3-6870-E3A5-5192-4C367F1E4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Age Group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20C15D-6C6D-B781-D978-EE3F790F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688" y="157622"/>
            <a:ext cx="3714115" cy="279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84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BDF455-9736-37B0-6745-A3B937E5C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2208"/>
            <a:ext cx="9284855" cy="4266555"/>
          </a:xfrm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customer age range is approximately from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 to 110 years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customers appear to be concentrated between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and 90 years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customers are below 45 years of age.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base is relatively mature.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products should emphasise savings, fixed deposits, insurance, and retirement planning.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8B7529-22C1-2044-2123-864ED113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Age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7B80C-3F55-EB6E-2E7B-64D949898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671" y="89655"/>
            <a:ext cx="3886767" cy="304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48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4C999D-23C2-8C0B-02EA-D78941A04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375" y="1137600"/>
            <a:ext cx="9763125" cy="4806000"/>
          </a:xfrm>
        </p:spPr>
        <p:txBody>
          <a:bodyPr>
            <a:no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Savings Accounts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most common account type, accounting for approximately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1,550 accounts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NRI Accounts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almost equal in number to Savings Accounts (around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1,540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Accounts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slightly lower at approximately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1,450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relatively balanced across all three account types.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has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well-diversified customer portfolio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dependence on a single account type.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adoption of Savings and NRI accounts indicates healthy customer trust and deposit growth.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accounts represent an opportunity for expansion through employer partnerships.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cross-selling opportunities such as loans, insurance, and investment products across all account holders.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 with corporate organizations to increase Salary Account acquisitions.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premium banking services to NRI customers to improve customer retention.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22430E-EB20-2649-7F0B-F1DAE041D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Type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5F6BDB-E85D-E338-0CA1-0F606F640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901" y="0"/>
            <a:ext cx="3119672" cy="164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10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5714D2-CCDA-EA59-B6AE-DD0F3EDC6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797" y="975675"/>
            <a:ext cx="9324153" cy="5148900"/>
          </a:xfrm>
        </p:spPr>
        <p:txBody>
          <a:bodyPr>
            <a:no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statements (POPLATEK MESICNE)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 for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92.6%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all customers.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statements (POPLATEK TYDNE)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 after each transaction (POPLATEK PO OBRATU)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 for only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customers prefer receiving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account statements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this is the standard communication frequency.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customers require frequent updates, indicating lower demand for detailed statement services.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statements help reduce operational and communication costs compared with daily or transaction-based notifications.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offering monthly statements as the default option.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customers to adopt digital statements and mobile notifications instead of printed statements.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customizable notification preferences through internet and mobile banking.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4264EF-0CD9-F513-54C3-9469895BD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809625"/>
          </a:xfrm>
        </p:spPr>
        <p:txBody>
          <a:bodyPr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Frequency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0B3D2-CE69-DC9D-45E0-26B6B347C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577" y="1"/>
            <a:ext cx="3707423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364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EDA — TRANSACTION ANALYTICS</a:t>
            </a:r>
          </a:p>
        </p:txBody>
      </p:sp>
      <p:pic>
        <p:nvPicPr>
          <p:cNvPr id="4" name="Transaction Analys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485" y="900000"/>
            <a:ext cx="6127030" cy="4550000"/>
          </a:xfrm>
          <a:prstGeom prst="rect">
            <a:avLst/>
          </a:prstGeom>
          <a:ln w="9525" cap="flat" cmpd="sng" algn="ctr">
            <a:solidFill>
              <a:srgbClr val="D9D9D9"/>
            </a:solidFill>
          </a:ln>
        </p:spPr>
      </p:pic>
      <p:sp>
        <p:nvSpPr>
          <p:cNvPr id="5" name="Caption 5"/>
          <p:cNvSpPr txBox="1"/>
          <p:nvPr/>
        </p:nvSpPr>
        <p:spPr>
          <a:xfrm>
            <a:off x="600000" y="5600000"/>
            <a:ext cx="10992000" cy="5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en-US" sz="1400" i="1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Withdrawals make up 62% of all activity; transaction volume has grown more than 10x since 2016, led by cash withdrawals and bank transfers.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FD9F71-3409-AEA5-B7EC-111D97212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752474"/>
            <a:ext cx="8896350" cy="5381625"/>
          </a:xfrm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Withdrawals account for 61.8%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all transactions.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Credits account for 38.2%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total transactions.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perform withdrawals more frequently than deposits.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experiences a higher volume of outgoing transactions, indicating active account usage.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larger withdrawal share may reflect customers using accounts primarily for spending and cash withdrawals.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savings and investment products to encourage customers to retain higher account balances.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cashback or rewards for maintaining balances and increasing deposits.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CFF18D-F740-6EF5-F3B6-7B5DD91B9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752475"/>
          </a:xfrm>
        </p:spPr>
        <p:txBody>
          <a:bodyPr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vs Withdrawal Split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EF1CC-BA85-5AE6-870F-930E65F79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5" y="109251"/>
            <a:ext cx="3315042" cy="276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850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D2647C-FCEE-C531-2E09-AE1250274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600" y="785158"/>
            <a:ext cx="9294075" cy="5425142"/>
          </a:xfrm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transaction volume increases consistently from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 to 2021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sharpest growth occurs between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 and 2020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 records the highest transaction volume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engagement has steadily increased over time.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growth indicates expanding banking activity and greater adoption of banking services.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upward trend suggests improved customer retention and transaction frequency.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infrastructure can scale with increasing transaction volumes.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transaction trends for forecasting future system capacity and staffing requirements.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917F0D-A9B7-C269-DD8B-C4469064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638175"/>
          </a:xfrm>
        </p:spPr>
        <p:txBody>
          <a:bodyPr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Yearly Transaction Trend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FE890-55A8-4D60-08A8-CA7DEA505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098" y="0"/>
            <a:ext cx="4162521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76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E046DE-2D1F-6C9B-BEAF-7623F3B05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89908"/>
            <a:ext cx="8801100" cy="5482291"/>
          </a:xfrm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Withdrawal in cash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frequently performed banking operation.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Remittance to another bank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second most common transaction type.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credit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deposits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moderately frequent.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funds transfer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occurs less frequently.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withdrawals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the smallest proportion of transactions.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continue to rely heavily on cash-based transactions.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Inter-bank transfers are an important service for customers.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 adoption appears relatively low compared with cash transactions.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digital payments and online fund transfers through incentives.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dependence on cash transactions by promoting mobile and internet banking.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690D06-34FB-7C77-E790-3E7A4F55E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514350"/>
          </a:xfrm>
        </p:spPr>
        <p:txBody>
          <a:bodyPr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Banking Operations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AE1A1-C847-3550-FF12-C2850F2E9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877" y="0"/>
            <a:ext cx="3422123" cy="30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82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DE60DB-8FE3-A460-2FB0-539A308E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600" y="607566"/>
            <a:ext cx="8874975" cy="5640834"/>
          </a:xfrm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transactions involve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monetary amounts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frequency decreases as transaction value increases.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Large-value transactions are relatively rare.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primarily perform routine day-to-day banking transactions.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transactions constitute only a small portion of overall banking activity.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many low-value transactions and few high-value transactions.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products and offers targeted at frequent low-value transaction users.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unusually large transactions as part of fraud detection and risk management.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B2947F-F7DE-5DCD-E2A6-EC2A92FD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561975"/>
          </a:xfrm>
        </p:spPr>
        <p:txBody>
          <a:bodyPr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Amount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04E4C-B038-77D9-C23E-8FCFD4457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569" y="0"/>
            <a:ext cx="3969431" cy="315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23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EDA — LOAN &amp; DISTRICT ANALYSIS</a:t>
            </a:r>
          </a:p>
        </p:txBody>
      </p:sp>
      <p:pic>
        <p:nvPicPr>
          <p:cNvPr id="4" name="Loan Portfolio Analys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900000"/>
            <a:ext cx="6200000" cy="4615842"/>
          </a:xfrm>
          <a:prstGeom prst="rect">
            <a:avLst/>
          </a:prstGeom>
          <a:ln w="9525" cap="flat" cmpd="sng" algn="ctr">
            <a:solidFill>
              <a:srgbClr val="D9D9D9"/>
            </a:solidFill>
          </a:ln>
        </p:spPr>
      </p:pic>
      <p:pic>
        <p:nvPicPr>
          <p:cNvPr id="5" name="District Analy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000" y="900000"/>
            <a:ext cx="4492000" cy="2228948"/>
          </a:xfrm>
          <a:prstGeom prst="rect">
            <a:avLst/>
          </a:prstGeom>
          <a:ln w="9525" cap="flat" cmpd="sng" algn="ctr">
            <a:solidFill>
              <a:srgbClr val="D9D9D9"/>
            </a:solidFill>
          </a:ln>
        </p:spPr>
      </p:pic>
      <p:sp>
        <p:nvSpPr>
          <p:cNvPr id="6" name="Caption 6"/>
          <p:cNvSpPr txBox="1"/>
          <p:nvPr/>
        </p:nvSpPr>
        <p:spPr>
          <a:xfrm>
            <a:off x="600000" y="5715842"/>
            <a:ext cx="10992000" cy="5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en-US" sz="1400" i="1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59% of loans finish in good standing; 11.1% overall default rate. Hl.m. Praha leads all districts by account volume, nearly 4x the next-largest district.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7FDE07-EB3D-5736-A0FE-033F27CA3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708958"/>
            <a:ext cx="9572625" cy="5406091"/>
          </a:xfrm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59.1%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loans 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Finished-OK (Status C)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successful loan repayment.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29.8%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Running-OK (Status 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representing active loans that are being</a:t>
            </a:r>
          </a:p>
          <a:p>
            <a:pPr marL="18626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repaid on schedule.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6.6%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Finished-Bad (Status D)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loans ended with repayment issues.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4.5%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Running-Bad (Status B)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active loans with repayment concerns.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Nearly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89% of loans are performing well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a healthy loan portfolio.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11.1%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loans fall into bad loan categories (Statuses B and D), suggesting that credit risk is relatively well managed.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maintains a strong repayment performance while keeping loan defaults under control.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monitoring customers in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Running-Bad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 through early warning systems and proactive customer engagement.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predictive analytics to identify borrowers at higher risk of default before repayment issues escalate.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417F67-F191-06E8-499D-2B1C9291A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590550"/>
          </a:xfrm>
        </p:spPr>
        <p:txBody>
          <a:bodyPr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Status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809F8D-6A20-935E-12FE-18FDC350C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0" y="85427"/>
            <a:ext cx="3456701" cy="232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62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06188D-C5D5-C254-8245-B658E37FD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61334"/>
            <a:ext cx="8905875" cy="5434666"/>
          </a:xfrm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loan amount increases from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Finished-Bad (Status D)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loans have the highest average loan amount</a:t>
            </a:r>
          </a:p>
          <a:p>
            <a:pPr marL="18626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(approximately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250,000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Running-OK (Status 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loans have the lowest average loan amount </a:t>
            </a:r>
          </a:p>
          <a:p>
            <a:pPr marL="18626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(approximately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90,000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loans appear to be associated with a higher likelihood of repayment issues.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borrowing higher amounts may require more detailed credit assessment and monitoring.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stricter credit evaluation and risk assessment for higher-value loans.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enhanced monitoring for customers with large outstanding loan balances.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E1CA04-5601-C2D3-EE93-541AB42C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495300"/>
          </a:xfrm>
        </p:spPr>
        <p:txBody>
          <a:bodyPr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Loan Amount by Status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133C1-C85A-609F-8817-B71555B10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476" y="71113"/>
            <a:ext cx="3819524" cy="265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03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99F2F-8206-5D09-6728-5A1857ECD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9C9B4B-DCC7-CC39-5BD0-B5985B089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61334"/>
            <a:ext cx="8905875" cy="5434666"/>
          </a:xfrm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12-month loans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 lowest bad loan rate (approximately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8.4%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durations of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24, 36, 48, and 60 months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similar bad loan rates </a:t>
            </a:r>
          </a:p>
          <a:p>
            <a:pPr marL="18626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(around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11–12%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loans appear to have better repayment performance.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Extending loan duration beyond one year does not significantly change the bad loan rate, but longer repayment periods may increase exposure to credit risk.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customers who qualify to choose shorter repayment periods.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long-duration loans more closely through periodic credit reviews.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C5D0E8-2A1E-E408-B339-6A2BE5D37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495300"/>
          </a:xfrm>
        </p:spPr>
        <p:txBody>
          <a:bodyPr anchor="ctr"/>
          <a:lstStyle/>
          <a:p>
            <a:r>
              <a:rPr lang="en-IN" dirty="0"/>
              <a:t>Bad Loan Rate by Loan Duration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80E59-28C0-46BF-FE3B-4656505D6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636" y="1"/>
            <a:ext cx="3678364" cy="265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788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3C2B8-5051-8A63-932B-7852046A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AE8F22-E6E0-46D1-55E3-B86E9648A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61334"/>
            <a:ext cx="8905875" cy="5434666"/>
          </a:xfrm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loan amount is approximately 151,410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loans are concentrated below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200,000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positively skewed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relatively few high-value</a:t>
            </a:r>
          </a:p>
          <a:p>
            <a:pPr marL="18626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loans exceeding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400,000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primarily issues small to medium-sized loans.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loans represent a smaller share of the portfolio but may contribute disproportionately to credit risk.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diversified lending across different loan sizes.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additional approval and monitoring procedures for high-value loans.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11071D-DF72-5E32-2431-8C2BB8489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495300"/>
          </a:xfrm>
        </p:spPr>
        <p:txBody>
          <a:bodyPr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Amount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DEF62-ED5A-16D8-0407-A15ACCB3B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921" y="16009"/>
            <a:ext cx="4073079" cy="295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593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C8758-5547-3358-17E1-E289E43D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584612-94A3-AF60-1FC1-7018F9374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350" y="661334"/>
            <a:ext cx="9610725" cy="5510866"/>
          </a:xfrm>
        </p:spPr>
        <p:txBody>
          <a:bodyPr>
            <a:no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accounts are highly concentrated in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Hl.m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Praha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noticeable gap between Praha and all other districts.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districts have relatively similar account volumes after the top four. 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Hl.m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Praha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bank's strongest market and contributes the largest share of customers.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Districts such as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Karvina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Ostrava-mesto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Brno-mesto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 important secondary markets with potential for further growth.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Lower-ranked districts may indicate untapped opportunities or lower banking penetration.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strengthening customer retention and premium banking services in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Hl.m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Praha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market leadership.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marketing campaigns and branch outreach in medium-performing districts such as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Karvina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Ostrava-mesto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Brno-mesto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targeted acquisition programs in lower-performing districts to increase customer penetration.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resources and promotional budgets according to regional customer concentration to maximise return on investment.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7F3E24-8D82-499E-FBDF-B00419597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495300"/>
          </a:xfrm>
        </p:spPr>
        <p:txBody>
          <a:bodyPr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District-wise Account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61EB2-B76A-3DFD-43DB-04C72765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573" y="-1"/>
            <a:ext cx="4250427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15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 — LOAN DEFAULT PERFORMANCE</a:t>
            </a:r>
          </a:p>
        </p:txBody>
      </p:sp>
      <p:pic>
        <p:nvPicPr>
          <p:cNvPr id="4" name="Confusion Matri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90" y="830000"/>
            <a:ext cx="6743870" cy="2450000"/>
          </a:xfrm>
          <a:prstGeom prst="rect">
            <a:avLst/>
          </a:prstGeom>
          <a:ln w="9525" cap="flat" cmpd="sng" algn="ctr">
            <a:solidFill>
              <a:srgbClr val="D9D9D9"/>
            </a:solidFill>
          </a:ln>
        </p:spPr>
      </p:pic>
      <p:pic>
        <p:nvPicPr>
          <p:cNvPr id="5" name="ROC Cur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660" y="830000"/>
            <a:ext cx="3280550" cy="2450000"/>
          </a:xfrm>
          <a:prstGeom prst="rect">
            <a:avLst/>
          </a:prstGeom>
          <a:ln w="9525" cap="flat" cmpd="sng" algn="ctr">
            <a:solidFill>
              <a:srgbClr val="D9D9D9"/>
            </a:solidFill>
          </a:ln>
        </p:spPr>
      </p:pic>
      <p:sp>
        <p:nvSpPr>
          <p:cNvPr id="10" name="StatBox 10"/>
          <p:cNvSpPr/>
          <p:nvPr/>
        </p:nvSpPr>
        <p:spPr>
          <a:xfrm>
            <a:off x="600000" y="3500000"/>
            <a:ext cx="3464000" cy="1500000"/>
          </a:xfrm>
          <a:prstGeom prst="rect">
            <a:avLst/>
          </a:prstGeom>
          <a:solidFill>
            <a:srgbClr val="4472C4"/>
          </a:solidFill>
          <a:ln w="9525" cap="flat" cmpd="sng" algn="ctr">
            <a:solidFill>
              <a:srgbClr val="4472C4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88.3%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(Logistic Regression)</a:t>
            </a:r>
          </a:p>
        </p:txBody>
      </p:sp>
      <p:sp>
        <p:nvSpPr>
          <p:cNvPr id="11" name="StatBox 11"/>
          <p:cNvSpPr/>
          <p:nvPr/>
        </p:nvSpPr>
        <p:spPr>
          <a:xfrm>
            <a:off x="4364000" y="3500000"/>
            <a:ext cx="3464000" cy="1500000"/>
          </a:xfrm>
          <a:prstGeom prst="rect">
            <a:avLst/>
          </a:prstGeom>
          <a:solidFill>
            <a:srgbClr val="E24B4A"/>
          </a:solidFill>
          <a:ln w="9525" cap="flat" cmpd="sng" algn="ctr">
            <a:solidFill>
              <a:srgbClr val="E24B4A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73.3%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on Defaults (catches 11/15)</a:t>
            </a:r>
          </a:p>
        </p:txBody>
      </p:sp>
      <p:sp>
        <p:nvSpPr>
          <p:cNvPr id="12" name="StatBox 12"/>
          <p:cNvSpPr/>
          <p:nvPr/>
        </p:nvSpPr>
        <p:spPr>
          <a:xfrm>
            <a:off x="8128000" y="3500000"/>
            <a:ext cx="3464000" cy="1500000"/>
          </a:xfrm>
          <a:prstGeom prst="rect">
            <a:avLst/>
          </a:prstGeom>
          <a:solidFill>
            <a:srgbClr val="46A861"/>
          </a:solidFill>
          <a:ln w="9525" cap="flat" cmpd="sng" algn="ctr">
            <a:solidFill>
              <a:srgbClr val="46A861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FFFFFF"/>
                </a:solidFill>
              </a:defRPr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0.896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ROC-AUC Score</a:t>
            </a:r>
          </a:p>
        </p:txBody>
      </p:sp>
      <p:sp>
        <p:nvSpPr>
          <p:cNvPr id="20" name="Caption 20"/>
          <p:cNvSpPr txBox="1"/>
          <p:nvPr/>
        </p:nvSpPr>
        <p:spPr>
          <a:xfrm>
            <a:off x="600000" y="5130000"/>
            <a:ext cx="10992000" cy="5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en-US" sz="1300" i="1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was selected for deployment: lower accuracy than Random Forest, but far better at catching actual defaults — the metric that matters most for risk management.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EA4A6D-FF01-80B9-337A-F94139DB1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5667375" cy="3428999"/>
          </a:xfrm>
        </p:spPr>
        <p:txBody>
          <a:bodyPr>
            <a:normAutofit fontScale="85000" lnSpcReduction="20000"/>
          </a:bodyPr>
          <a:lstStyle/>
          <a:p>
            <a:pPr marL="186262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186262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Insights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classified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good loans.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good loans as bad.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demonstrates good overall classification performance but produces more false predictions than Random Forest. </a:t>
            </a:r>
          </a:p>
          <a:p>
            <a:pPr marL="186262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Business Interpretation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provides reliable predictions and is suitable as a baseline classification model.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good customers may be incorrectly flagged as risky, potentially leading to unnecessary loan reviews.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7D1D7-C61D-8FB7-C0A3-16501977260A}"/>
              </a:ext>
            </a:extLst>
          </p:cNvPr>
          <p:cNvSpPr txBox="1"/>
          <p:nvPr/>
        </p:nvSpPr>
        <p:spPr>
          <a:xfrm>
            <a:off x="5667375" y="67894"/>
            <a:ext cx="614362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Insights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classified </a:t>
            </a: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119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good loans.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Misclassified only </a:t>
            </a: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good loans.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Produced fewer classification errors than Logistic Regression. </a:t>
            </a:r>
          </a:p>
          <a:p>
            <a:endParaRPr lang="en-I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Business Interpretation</a:t>
            </a: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achieves higher classification accuracy on the test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misclassifications reduce unnecessary interventions for customers classified as high risk.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10D1FF-FC35-8CBC-C0D7-AF57E962F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4" y="3361104"/>
            <a:ext cx="11344275" cy="285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618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B3956E-2EBE-7DE3-4F78-5B6A408A5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600" y="623234"/>
            <a:ext cx="5674575" cy="5434666"/>
          </a:xfrm>
        </p:spPr>
        <p:txBody>
          <a:bodyPr>
            <a:normAutofit/>
          </a:bodyPr>
          <a:lstStyle/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AUC = 0.896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AUC = 0.804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ROC curve shows how well each model distinguishes between good and bad loans across different classification thresholds.</a:t>
            </a:r>
          </a:p>
          <a:p>
            <a:pPr marL="186262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Interpretation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has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AUC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better discrimination between loan classes overall.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models perform substantially better than random guessing.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higher AUC suggests Logistic Regression ranks risky customers more effectively across varying decision thresholds.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76D030-3A13-42C9-3BA1-FD63A668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466725"/>
          </a:xfrm>
        </p:spPr>
        <p:txBody>
          <a:bodyPr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FB8354-57F4-C85E-CC5A-310E2B574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176" y="233362"/>
            <a:ext cx="5674576" cy="543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654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MODEL DRIVERS &amp; TAKEAWAYS</a:t>
            </a:r>
          </a:p>
        </p:txBody>
      </p:sp>
      <p:pic>
        <p:nvPicPr>
          <p:cNvPr id="4" name="Feature Importa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950000"/>
            <a:ext cx="6100000" cy="3635280"/>
          </a:xfrm>
          <a:prstGeom prst="rect">
            <a:avLst/>
          </a:prstGeom>
          <a:ln w="9525" cap="flat" cmpd="sng" algn="ctr">
            <a:solidFill>
              <a:srgbClr val="D9D9D9"/>
            </a:solidFill>
          </a:ln>
        </p:spPr>
      </p:pic>
      <p:sp>
        <p:nvSpPr>
          <p:cNvPr id="5" name="Caption 5"/>
          <p:cNvSpPr txBox="1"/>
          <p:nvPr/>
        </p:nvSpPr>
        <p:spPr>
          <a:xfrm>
            <a:off x="600000" y="4665280"/>
            <a:ext cx="6100000" cy="3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— Random Forest</a:t>
            </a:r>
          </a:p>
        </p:txBody>
      </p:sp>
      <p:sp>
        <p:nvSpPr>
          <p:cNvPr id="6" name="Bullets 6"/>
          <p:cNvSpPr txBox="1"/>
          <p:nvPr/>
        </p:nvSpPr>
        <p:spPr>
          <a:xfrm>
            <a:off x="7050000" y="1000000"/>
            <a:ext cx="4542000" cy="42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186262" indent="0">
              <a:spcBef>
                <a:spcPts val="600"/>
              </a:spcBef>
              <a:spcAft>
                <a:spcPts val="600"/>
              </a:spcAft>
              <a:buChar char="•"/>
              <a:defRPr sz="1350">
                <a:solidFill>
                  <a:srgbClr val="404040"/>
                </a:solidFill>
              </a:defRPr>
            </a:pPr>
            <a:r>
              <a:rPr lang="en-US" sz="135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behavior drives risk: </a:t>
            </a:r>
            <a:r>
              <a:rPr lang="en-US" sz="135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avg_balance and max_balance are the top two predictors of default.</a:t>
            </a:r>
          </a:p>
          <a:p>
            <a:pPr marL="186262" indent="0">
              <a:spcBef>
                <a:spcPts val="600"/>
              </a:spcBef>
              <a:spcAft>
                <a:spcPts val="600"/>
              </a:spcAft>
              <a:buChar char="•"/>
              <a:defRPr sz="1350">
                <a:solidFill>
                  <a:srgbClr val="404040"/>
                </a:solidFill>
              </a:defRPr>
            </a:pPr>
            <a:r>
              <a:rPr lang="en-US" sz="135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Spending pattern matters: </a:t>
            </a:r>
            <a:r>
              <a:rPr lang="en-US" sz="135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credit-to-withdrawal ratio ranks 3rd, ahead of loan amount itself.</a:t>
            </a:r>
          </a:p>
          <a:p>
            <a:pPr marL="186262" indent="0">
              <a:spcBef>
                <a:spcPts val="600"/>
              </a:spcBef>
              <a:spcAft>
                <a:spcPts val="600"/>
              </a:spcAft>
              <a:buChar char="•"/>
              <a:defRPr sz="1350">
                <a:solidFill>
                  <a:srgbClr val="404040"/>
                </a:solidFill>
              </a:defRPr>
            </a:pPr>
            <a:r>
              <a:rPr lang="en-US" sz="135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choice favors recall: </a:t>
            </a:r>
            <a:r>
              <a:rPr lang="en-US" sz="135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(73.3% recall) was deployed over Random Forest (26.7% recall) to catch more true defaults.</a:t>
            </a:r>
          </a:p>
          <a:p>
            <a:pPr marL="186262" indent="0">
              <a:spcBef>
                <a:spcPts val="600"/>
              </a:spcBef>
              <a:spcAft>
                <a:spcPts val="600"/>
              </a:spcAft>
              <a:buChar char="•"/>
              <a:defRPr sz="1350">
                <a:solidFill>
                  <a:srgbClr val="404040"/>
                </a:solidFill>
              </a:defRPr>
            </a:pPr>
            <a:r>
              <a:rPr lang="en-US" sz="1350" b="1" dirty="0">
                <a:solidFill>
                  <a:srgbClr val="1F386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lang="en-US" sz="135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and scaler saved as .pkl files and served through a Streamlit web application.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821EA6-C28C-E036-CED4-62ECB24F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— EXECUTIVE OVERVIEW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EA042-5C11-7057-3309-3A14B9A5C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054" y="568800"/>
            <a:ext cx="9953795" cy="51485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822110-C791-6607-143B-9C1DB8F6E2B6}"/>
              </a:ext>
            </a:extLst>
          </p:cNvPr>
          <p:cNvSpPr txBox="1"/>
          <p:nvPr/>
        </p:nvSpPr>
        <p:spPr>
          <a:xfrm>
            <a:off x="1173018" y="5639778"/>
            <a:ext cx="9759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Hl.m</a:t>
            </a:r>
            <a:r>
              <a:rPr lang="en-IN" dirty="0"/>
              <a:t>. Praha anchors the customer base with nearly 4x the accounts of any other district, while 89% of loans remain in good standing (Running-OK or Finished-OK status).</a:t>
            </a:r>
          </a:p>
        </p:txBody>
      </p:sp>
    </p:spTree>
    <p:extLst>
      <p:ext uri="{BB962C8B-B14F-4D97-AF65-F5344CB8AC3E}">
        <p14:creationId xmlns:p14="http://schemas.microsoft.com/office/powerpoint/2010/main" val="8423510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0D7E86-EEB2-085B-3F2F-562CAE8A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— CUSTOMER ANALYTICS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409749-1083-F7C1-19B6-E9B881B3E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05" y="568800"/>
            <a:ext cx="9527183" cy="48898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211B25-BFCF-93D5-7E7F-5D69E46F2186}"/>
              </a:ext>
            </a:extLst>
          </p:cNvPr>
          <p:cNvSpPr txBox="1"/>
          <p:nvPr/>
        </p:nvSpPr>
        <p:spPr>
          <a:xfrm>
            <a:off x="1108363" y="5458691"/>
            <a:ext cx="9527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Customers skew notably older (avg. age 73, dominated by the 60+ segment), and card adoption remains modest at 16.6%, led almost entirely by classic cards (74%).</a:t>
            </a:r>
          </a:p>
        </p:txBody>
      </p:sp>
    </p:spTree>
    <p:extLst>
      <p:ext uri="{BB962C8B-B14F-4D97-AF65-F5344CB8AC3E}">
        <p14:creationId xmlns:p14="http://schemas.microsoft.com/office/powerpoint/2010/main" val="2941747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— TRANSACTION ANALYTICS</a:t>
            </a:r>
          </a:p>
        </p:txBody>
      </p:sp>
      <p:pic>
        <p:nvPicPr>
          <p:cNvPr id="4" name="PBI Transaction Analytic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527" y="669164"/>
            <a:ext cx="9688945" cy="4817236"/>
          </a:xfrm>
          <a:prstGeom prst="rect">
            <a:avLst/>
          </a:prstGeom>
          <a:ln w="9525" cap="flat" cmpd="sng" algn="ctr">
            <a:solidFill>
              <a:srgbClr val="D9D9D9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4C4336-723B-0612-BED9-550832DBB8C0}"/>
              </a:ext>
            </a:extLst>
          </p:cNvPr>
          <p:cNvSpPr txBox="1"/>
          <p:nvPr/>
        </p:nvSpPr>
        <p:spPr>
          <a:xfrm>
            <a:off x="1251527" y="5542505"/>
            <a:ext cx="9688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Withdrawals dominate at 62% of volume, and transaction activity has grown steadily each year, concentrated among a small set of high-activity accounts.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— LOAN ANALYTICS</a:t>
            </a:r>
          </a:p>
        </p:txBody>
      </p:sp>
      <p:pic>
        <p:nvPicPr>
          <p:cNvPr id="4" name="PBI Loan Analytic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03" y="568800"/>
            <a:ext cx="10173233" cy="4678691"/>
          </a:xfrm>
          <a:prstGeom prst="rect">
            <a:avLst/>
          </a:prstGeom>
          <a:ln w="9525" cap="flat" cmpd="sng" algn="ctr">
            <a:solidFill>
              <a:srgbClr val="D9D9D9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C7BF66-4F35-A1CC-E81B-0ACA08A8E996}"/>
              </a:ext>
            </a:extLst>
          </p:cNvPr>
          <p:cNvSpPr txBox="1"/>
          <p:nvPr/>
        </p:nvSpPr>
        <p:spPr>
          <a:xfrm>
            <a:off x="1113603" y="5458691"/>
            <a:ext cx="10173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Bad loan rate holds steady around 11–12% regardless of duration, while loans of 200K+ represent the largest share of the portfolio by amount.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E8681F-B4C3-032B-AE73-3A9623DF0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03564"/>
            <a:ext cx="10515600" cy="4996872"/>
          </a:xfrm>
        </p:spPr>
        <p:txBody>
          <a:bodyPr>
            <a:normAutofit fontScale="85000" lnSpcReduction="10000"/>
          </a:bodyPr>
          <a:lstStyle/>
          <a:p>
            <a:pPr marL="186262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Strengthen Loan Risk Monitoring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predictive model to identify customers with a higher probability of loan default.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these customers for early intervention and repayment reminders. </a:t>
            </a:r>
          </a:p>
          <a:p>
            <a:pPr marL="186262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Increase Savings Account Adoption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targeted marketing campaigns in districts with lower savings account penetration.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promotional interest rates or bundled banking products. </a:t>
            </a:r>
          </a:p>
          <a:p>
            <a:pPr marL="186262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Improve Customer Segmentation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customer demographics, transaction frequency, and account activity to create personalized financial products. </a:t>
            </a:r>
          </a:p>
          <a:p>
            <a:pPr marL="186262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Optimize Branch Performance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more resources and marketing efforts to underperforming districts while maintaining service quality in high-performing regions. </a:t>
            </a:r>
          </a:p>
          <a:p>
            <a:pPr marL="186262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Enhance Digital Banking Adoption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online banking and digital transactions to reduce operational costs and improve customer convenience. </a:t>
            </a:r>
          </a:p>
          <a:p>
            <a:pPr marL="186262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Continuous Data Quality Monitoring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automated SQL validation checks to maintain high data quality and ensure reliable business reporting.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4C7665-556D-3807-D7E6-772968A83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en-IN" dirty="0"/>
              <a:t>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1547785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C6FB42-0D80-74C4-F545-4EC3FE3E3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75" y="538018"/>
            <a:ext cx="11722128" cy="5212427"/>
          </a:xfrm>
        </p:spPr>
        <p:txBody>
          <a:bodyPr>
            <a:noAutofit/>
          </a:bodyPr>
          <a:lstStyle/>
          <a:p>
            <a:pPr marL="18626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integrated data from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banking tables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unified analytical dataset containing over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million transaction records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8626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Performed comprehensive SQL-based data validation, including: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validation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 validation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value analysis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rule validation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Referential integrity checks resulting in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99.2% data quality score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8626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Developed interactive Power BI dashboards for: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Overview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Analytics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Analytics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Analytics </a:t>
            </a:r>
          </a:p>
          <a:p>
            <a:pPr marL="18626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Exploratory Data Analysis (EDA) in Python to identify customer behaviour, transaction trends, and loan characteristics.</a:t>
            </a:r>
          </a:p>
          <a:p>
            <a:pPr marL="18626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machine learning models for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default prediction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risk assessment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proactive risk management. </a:t>
            </a:r>
          </a:p>
          <a:p>
            <a:pPr marL="186262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actionable business insights to support strategic decision-making, customer segmentation, and loan portfolio optimization.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C25C41-0A00-706B-01BD-A29A33F9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7" y="0"/>
            <a:ext cx="10675200" cy="665018"/>
          </a:xfrm>
        </p:spPr>
        <p:txBody>
          <a:bodyPr anchor="t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</a:t>
            </a:r>
          </a:p>
        </p:txBody>
      </p:sp>
    </p:spTree>
    <p:extLst>
      <p:ext uri="{BB962C8B-B14F-4D97-AF65-F5344CB8AC3E}">
        <p14:creationId xmlns:p14="http://schemas.microsoft.com/office/powerpoint/2010/main" val="27573243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766298-908A-2F57-8308-D71075E09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8125" y="-2100916"/>
            <a:ext cx="2657475" cy="574261"/>
          </a:xfrm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EE241-C574-97E3-A84D-E443B972A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072" y="-2105025"/>
            <a:ext cx="2655150" cy="213675"/>
          </a:xfrm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Beveled 3">
            <a:extLst>
              <a:ext uri="{FF2B5EF4-FFF2-40B4-BE49-F238E27FC236}">
                <a16:creationId xmlns:a16="http://schemas.microsoft.com/office/drawing/2014/main" id="{9ED956B0-31CE-41E2-7471-701BFF757068}"/>
              </a:ext>
            </a:extLst>
          </p:cNvPr>
          <p:cNvSpPr/>
          <p:nvPr/>
        </p:nvSpPr>
        <p:spPr>
          <a:xfrm>
            <a:off x="3929636" y="2609173"/>
            <a:ext cx="4147566" cy="1042416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934401831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15341</TotalTime>
  <Words>2839</Words>
  <Application>Microsoft Office PowerPoint</Application>
  <PresentationFormat>Widescreen</PresentationFormat>
  <Paragraphs>408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Open Sans</vt:lpstr>
      <vt:lpstr>PT Sans Narrow</vt:lpstr>
      <vt:lpstr>Raleway</vt:lpstr>
      <vt:lpstr>Times New Roman</vt:lpstr>
      <vt:lpstr>Tropic</vt:lpstr>
      <vt:lpstr>PowerPoint Presentation</vt:lpstr>
      <vt:lpstr>PowerPoint Presentation</vt:lpstr>
      <vt:lpstr>BUSINESS OBJECTIVES</vt:lpstr>
      <vt:lpstr>PROJECT SCOPE &amp; METHODOLOGY</vt:lpstr>
      <vt:lpstr>DATASET OVERVIEW</vt:lpstr>
      <vt:lpstr>TECHNOLOGY STACK</vt:lpstr>
      <vt:lpstr>PowerPoint Presentation</vt:lpstr>
      <vt:lpstr>PowerPoint Presentation</vt:lpstr>
      <vt:lpstr>PRIMARY KEY VALIDATION RESULTS</vt:lpstr>
      <vt:lpstr>REFERENTIAL INTEGRITY VALIDATION </vt:lpstr>
      <vt:lpstr>DATA QUALITY SCORE CARD</vt:lpstr>
      <vt:lpstr>PYTHON EDA — CUSTOMER &amp; ACCOUNT ANALYTICS</vt:lpstr>
      <vt:lpstr>Gender Distribution</vt:lpstr>
      <vt:lpstr>Customer Age Group Distribution</vt:lpstr>
      <vt:lpstr>Customer Age Distribution</vt:lpstr>
      <vt:lpstr>Account Type Distribution</vt:lpstr>
      <vt:lpstr>Statement Frequency Distribution</vt:lpstr>
      <vt:lpstr>PYTHON EDA — TRANSACTION ANALYTICS</vt:lpstr>
      <vt:lpstr>Credit vs Withdrawal Split</vt:lpstr>
      <vt:lpstr>Yearly Transaction Trend</vt:lpstr>
      <vt:lpstr>Top Banking Operations</vt:lpstr>
      <vt:lpstr>Transaction Amount Distribution</vt:lpstr>
      <vt:lpstr>PYTHON EDA — LOAN &amp; DISTRICT ANALYSIS</vt:lpstr>
      <vt:lpstr>Loan Status Distribution</vt:lpstr>
      <vt:lpstr>Average Loan Amount by Status</vt:lpstr>
      <vt:lpstr>Bad Loan Rate by Loan Duration</vt:lpstr>
      <vt:lpstr>Loan Amount Distribution</vt:lpstr>
      <vt:lpstr>District-wise Account Distribution</vt:lpstr>
      <vt:lpstr>PREDICTIVE MODEL — LOAN DEFAULT PERFORMANCE</vt:lpstr>
      <vt:lpstr>PowerPoint Presentation</vt:lpstr>
      <vt:lpstr>ROC Curve Comparison</vt:lpstr>
      <vt:lpstr>KEY MODEL DRIVERS &amp; TAKEAWAYS</vt:lpstr>
      <vt:lpstr>POWER BI DASHBOARD — EXECUTIVE OVERVIEW</vt:lpstr>
      <vt:lpstr>POWER BI DASHBOARD — CUSTOMER ANALYTICS</vt:lpstr>
      <vt:lpstr>POWER BI DASHBOARD — TRANSACTION ANALYTICS</vt:lpstr>
      <vt:lpstr>POWER BI DASHBOARD — LOAN ANALYTICS</vt:lpstr>
      <vt:lpstr>Business Recommendations</vt:lpstr>
      <vt:lpstr>Project Outcomes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Anurag .</cp:lastModifiedBy>
  <cp:revision>595</cp:revision>
  <dcterms:created xsi:type="dcterms:W3CDTF">2025-04-04T02:52:34Z</dcterms:created>
  <dcterms:modified xsi:type="dcterms:W3CDTF">2026-07-01T13:20:15Z</dcterms:modified>
</cp:coreProperties>
</file>